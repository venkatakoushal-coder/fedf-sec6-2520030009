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ECBC-C13A-4D83-8FAE-DB1ADA4F2F8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2455-A64D-445B-9E91-8A9AA8690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44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ECBC-C13A-4D83-8FAE-DB1ADA4F2F8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2455-A64D-445B-9E91-8A9AA8690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71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ECBC-C13A-4D83-8FAE-DB1ADA4F2F8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2455-A64D-445B-9E91-8A9AA8690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238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ECBC-C13A-4D83-8FAE-DB1ADA4F2F8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2455-A64D-445B-9E91-8A9AA8690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1962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ECBC-C13A-4D83-8FAE-DB1ADA4F2F8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2455-A64D-445B-9E91-8A9AA8690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3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ECBC-C13A-4D83-8FAE-DB1ADA4F2F8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2455-A64D-445B-9E91-8A9AA8690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24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ECBC-C13A-4D83-8FAE-DB1ADA4F2F8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2455-A64D-445B-9E91-8A9AA8690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867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ECBC-C13A-4D83-8FAE-DB1ADA4F2F8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2455-A64D-445B-9E91-8A9AA8690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180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ECBC-C13A-4D83-8FAE-DB1ADA4F2F8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2455-A64D-445B-9E91-8A9AA8690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320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ECBC-C13A-4D83-8FAE-DB1ADA4F2F8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2455-A64D-445B-9E91-8A9AA8690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265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AECBC-C13A-4D83-8FAE-DB1ADA4F2F8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42455-A64D-445B-9E91-8A9AA8690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44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AECBC-C13A-4D83-8FAE-DB1ADA4F2F8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42455-A64D-445B-9E91-8A9AA86905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350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3313" y="530136"/>
            <a:ext cx="2829429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1. Basic Structure (Node)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86112" y="1286322"/>
            <a:ext cx="1953208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class Node: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data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left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70462" y="847255"/>
            <a:ext cx="3075027" cy="258532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class Node {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data;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Node left, right;</a:t>
            </a:r>
          </a:p>
          <a:p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Node(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data) {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this.data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= data;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left = right = null;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7874001" y="384345"/>
            <a:ext cx="3994812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2. Construction (Create Empty Tree)</a:t>
            </a:r>
            <a:endParaRPr lang="en-GB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3209" y="903124"/>
            <a:ext cx="2930849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BST: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root = null</a:t>
            </a:r>
          </a:p>
        </p:txBody>
      </p:sp>
      <p:sp>
        <p:nvSpPr>
          <p:cNvPr id="7" name="Rectangle 6"/>
          <p:cNvSpPr/>
          <p:nvPr/>
        </p:nvSpPr>
        <p:spPr>
          <a:xfrm>
            <a:off x="3703073" y="408879"/>
            <a:ext cx="1193532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Code</a:t>
            </a:r>
            <a:endParaRPr lang="en-GB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84386" y="1634302"/>
            <a:ext cx="1193532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Code</a:t>
            </a:r>
            <a:endParaRPr lang="en-GB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983985" y="2139917"/>
            <a:ext cx="4117819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class BST {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Node root = null;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313" y="3306082"/>
            <a:ext cx="1406154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3. Insertion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663" y="3995678"/>
            <a:ext cx="4705884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function insert(root, value):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if root is null: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return new Node(value)</a:t>
            </a:r>
          </a:p>
          <a:p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if value &lt;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= insert(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value)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else: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= insert(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value)</a:t>
            </a:r>
          </a:p>
          <a:p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return root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6112" y="3675414"/>
            <a:ext cx="1456617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Pseudocode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734" y="917176"/>
            <a:ext cx="1456617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Pseudocode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8924" y="3623835"/>
            <a:ext cx="1193532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Code</a:t>
            </a:r>
            <a:endParaRPr lang="en-GB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72813" y="3995678"/>
            <a:ext cx="6096000" cy="286232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Node insert(Node root,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value) {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if (root == null) return new Node(value);</a:t>
            </a:r>
          </a:p>
          <a:p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if (value &lt;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= insert(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value);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else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= insert(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value);</a:t>
            </a:r>
          </a:p>
          <a:p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return root;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8671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1813" y="370506"/>
            <a:ext cx="147175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4. Searching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29505" y="739838"/>
            <a:ext cx="145661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Pseudocode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505" y="1201819"/>
            <a:ext cx="4037222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function search(root, key):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if root is null OR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== key: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return root</a:t>
            </a:r>
          </a:p>
          <a:p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if key &lt;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search(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key)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else: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search(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key)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499092" y="177634"/>
            <a:ext cx="14436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🔹 </a:t>
            </a:r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Code</a:t>
            </a:r>
            <a:endParaRPr lang="en-GB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26152" y="663630"/>
            <a:ext cx="6096000" cy="258532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Node search(Node root,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key) {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if (root == null ||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== key)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return root;</a:t>
            </a:r>
          </a:p>
          <a:p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if (key &lt;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return search(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key);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else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return search(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key);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505" y="3756747"/>
            <a:ext cx="153112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5. Traversals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5141" y="4359407"/>
            <a:ext cx="463101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 err="1">
                <a:latin typeface="Cambria" panose="02040503050406030204" pitchFamily="18" charset="0"/>
                <a:ea typeface="Cambria" panose="02040503050406030204" pitchFamily="18" charset="0"/>
              </a:rPr>
              <a:t>Inorder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 (Left → Root → Right</a:t>
            </a:r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) Pseudocode</a:t>
            </a:r>
            <a:endParaRPr lang="en-GB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9505" y="4962067"/>
            <a:ext cx="3169475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function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inorder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(root):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if root != null: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inorder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print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inorder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9502" y="4450438"/>
            <a:ext cx="6096000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void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inorder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(Node root) {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if (root != null) {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inorder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+ " ");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inorder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3330" y="4010167"/>
            <a:ext cx="14436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🔹 </a:t>
            </a:r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Code</a:t>
            </a:r>
            <a:endParaRPr lang="en-GB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19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3371" y="73773"/>
            <a:ext cx="3453446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 err="1">
                <a:latin typeface="Cambria" panose="02040503050406030204" pitchFamily="18" charset="0"/>
                <a:ea typeface="Cambria" panose="02040503050406030204" pitchFamily="18" charset="0"/>
              </a:rPr>
              <a:t>Preorder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 (Root → Left → Right)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9009" y="1169446"/>
            <a:ext cx="4031693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function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preorder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(root):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if root != null: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print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preorder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preorder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15009" y="615449"/>
            <a:ext cx="4812354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void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preorder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(Node root) {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if (root != null) {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+ " ");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preorder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preorder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156710" y="2938727"/>
            <a:ext cx="3542508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 err="1">
                <a:latin typeface="Cambria" panose="02040503050406030204" pitchFamily="18" charset="0"/>
                <a:ea typeface="Cambria" panose="02040503050406030204" pitchFamily="18" charset="0"/>
              </a:rPr>
              <a:t>Postorder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 (Left → Right → Root)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489" y="4168376"/>
            <a:ext cx="3371507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function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postorder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(root):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if root != null: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postorder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postorder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print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43266" y="3966052"/>
            <a:ext cx="4139681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void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postorder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(Node root) {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if (root != null) {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postorder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postorder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System.out.print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+ " ");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7530" y="210943"/>
            <a:ext cx="1443600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🔹 </a:t>
            </a:r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Code</a:t>
            </a:r>
            <a:endParaRPr lang="en-GB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13217" y="3410191"/>
            <a:ext cx="1443600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🔹 </a:t>
            </a:r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Code</a:t>
            </a:r>
            <a:endParaRPr lang="en-GB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9505" y="739838"/>
            <a:ext cx="1456617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Pseudocode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504" y="3600012"/>
            <a:ext cx="1456617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Pseudocode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01785" y="3049269"/>
            <a:ext cx="1726755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/>
              <a:t>(Find Minimum)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56413" y="3470746"/>
            <a:ext cx="2908363" cy="12003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function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findMin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(node):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while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node.left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!= null: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node =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node.left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return node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21186" y="5258713"/>
            <a:ext cx="2908363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Node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findMin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(Node root) {</a:t>
            </a:r>
            <a:b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while 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!= null)</a:t>
            </a:r>
            <a:b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root =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  <a:b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return root;</a:t>
            </a:r>
            <a:b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88377" y="3011946"/>
            <a:ext cx="1456617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Pseudocode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74359" y="4838397"/>
            <a:ext cx="1443600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🔹 </a:t>
            </a:r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Code</a:t>
            </a:r>
            <a:endParaRPr lang="en-GB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531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9816" y="554599"/>
            <a:ext cx="261326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6. Deletion </a:t>
            </a:r>
          </a:p>
        </p:txBody>
      </p:sp>
      <p:sp>
        <p:nvSpPr>
          <p:cNvPr id="3" name="Rectangle 2"/>
          <p:cNvSpPr/>
          <p:nvPr/>
        </p:nvSpPr>
        <p:spPr>
          <a:xfrm>
            <a:off x="3349691" y="92934"/>
            <a:ext cx="884231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🔹 Idea: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Case 1: No child → delete directly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Case 2: One child → replace with child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Case 3: Two children → replace with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inorder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successor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(smallest in right subtree)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7324" y="1385596"/>
            <a:ext cx="5290456" cy="53553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function delete(root, key):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if root is null: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return root</a:t>
            </a:r>
          </a:p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if key &lt;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= delete(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key)</a:t>
            </a:r>
          </a:p>
          <a:p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else if key &gt;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= delete(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key)</a:t>
            </a:r>
          </a:p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else: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// Node found</a:t>
            </a:r>
          </a:p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is null: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    return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else if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is null: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    return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// Two children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successor =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findMin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successor.data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= delete(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successor.data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return root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282852" y="1016264"/>
            <a:ext cx="145661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Pseudocode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67779" y="1502688"/>
            <a:ext cx="4652400" cy="53553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Node delete(Node root,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int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key) {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if (root == null) return root;</a:t>
            </a:r>
          </a:p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if (key &lt;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= delete(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key);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else if (key &gt;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= delete(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key);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else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{       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// Case 1 &amp; 2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if 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== null)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    return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else if 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== null)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    return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root.left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// Case 3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Node successor =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findMin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successor.data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= delete(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root.right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successor.data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);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}</a:t>
            </a:r>
          </a:p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   return root;</a:t>
            </a:r>
          </a:p>
          <a:p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}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24179" y="1385596"/>
            <a:ext cx="14436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</a:rPr>
              <a:t>🔹 </a:t>
            </a:r>
            <a:r>
              <a:rPr lang="en-GB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Java Code</a:t>
            </a:r>
            <a:endParaRPr lang="en-GB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911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xmlns="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b="1" dirty="0">
              <a:latin typeface="Times New Roman"/>
              <a:cs typeface="Times New Roman"/>
            </a:endParaRPr>
          </a:p>
          <a:p>
            <a:pPr algn="ctr"/>
            <a:r>
              <a:rPr lang="en-US" sz="3200" b="1" dirty="0">
                <a:latin typeface="Times New Roman"/>
                <a:cs typeface="Times New Roman"/>
              </a:rPr>
              <a:t>THANK YOU</a:t>
            </a: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latin typeface="Times New Roman"/>
              <a:cs typeface="Times New Roman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EF84BF37-0568-2BED-A47E-8DEBCEFEC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814" y="3130921"/>
            <a:ext cx="2351922" cy="124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25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707</Words>
  <Application>Microsoft Office PowerPoint</Application>
  <PresentationFormat>Widescreen</PresentationFormat>
  <Paragraphs>170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laxmana kumar</dc:creator>
  <cp:lastModifiedBy>User</cp:lastModifiedBy>
  <cp:revision>2</cp:revision>
  <dcterms:created xsi:type="dcterms:W3CDTF">2026-04-15T07:06:56Z</dcterms:created>
  <dcterms:modified xsi:type="dcterms:W3CDTF">2026-04-15T07:36:56Z</dcterms:modified>
</cp:coreProperties>
</file>