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146CC-D107-4C29-A45A-D71CDB89F606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B45994-AC9D-4298-B650-22A63BFBD5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557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A37ABB-9ABF-4EF9-81BF-348A5A4E1BFB}" type="slidenum">
              <a:rPr lang="en-US"/>
              <a:pPr/>
              <a:t>3</a:t>
            </a:fld>
            <a:endParaRPr lang="en-US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1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A37ABB-9ABF-4EF9-81BF-348A5A4E1BFB}" type="slidenum">
              <a:rPr lang="en-US"/>
              <a:pPr/>
              <a:t>4</a:t>
            </a:fld>
            <a:endParaRPr lang="en-US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83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A37ABB-9ABF-4EF9-81BF-348A5A4E1BFB}" type="slidenum">
              <a:rPr lang="en-US"/>
              <a:pPr/>
              <a:t>6</a:t>
            </a:fld>
            <a:endParaRPr lang="en-US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9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36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61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35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86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037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476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49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033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49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15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97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628BA-29F2-4A81-B631-1F408084046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E4259-0E17-4682-84F1-093E76FEB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94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952596" y="142852"/>
            <a:ext cx="8429684" cy="77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IN" sz="3200" b="1" dirty="0"/>
              <a:t>Construct a binary search tree</a:t>
            </a:r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38282" y="1142985"/>
            <a:ext cx="8715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Keys are: </a:t>
            </a:r>
            <a:r>
              <a:rPr lang="en-US" sz="2400" b="1" dirty="0"/>
              <a:t>8, 3, 10, 1, 6, 14, 4, 7, 13</a:t>
            </a:r>
          </a:p>
        </p:txBody>
      </p:sp>
      <p:sp>
        <p:nvSpPr>
          <p:cNvPr id="4" name="Oval 3"/>
          <p:cNvSpPr/>
          <p:nvPr/>
        </p:nvSpPr>
        <p:spPr>
          <a:xfrm>
            <a:off x="5024430" y="1714488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4238612" y="2445344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4" idx="3"/>
            <a:endCxn id="5" idx="7"/>
          </p:cNvCxnSpPr>
          <p:nvPr/>
        </p:nvCxnSpPr>
        <p:spPr>
          <a:xfrm flipH="1">
            <a:off x="4787397" y="2202297"/>
            <a:ext cx="331190" cy="3267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810248" y="2357430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4" idx="5"/>
            <a:endCxn id="8" idx="1"/>
          </p:cNvCxnSpPr>
          <p:nvPr/>
        </p:nvCxnSpPr>
        <p:spPr>
          <a:xfrm rot="16200000" flipH="1">
            <a:off x="5619396" y="2156116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95670" y="3202429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rot="5400000">
            <a:off x="3989322" y="2918472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38678" y="3214686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16200000" flipH="1">
            <a:off x="4762140" y="2954192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67504" y="3071810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rot="16200000" flipH="1">
            <a:off x="6476652" y="2860222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167174" y="4000504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rot="5400000">
            <a:off x="4560826" y="3716547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238744" y="4000504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7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rot="16200000" flipH="1">
            <a:off x="5262206" y="3740010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096000" y="4000504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/>
          <p:cNvCxnSpPr>
            <a:stCxn id="17" idx="3"/>
          </p:cNvCxnSpPr>
          <p:nvPr/>
        </p:nvCxnSpPr>
        <p:spPr>
          <a:xfrm rot="5400000">
            <a:off x="6446166" y="3699060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48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3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952596" y="116632"/>
            <a:ext cx="8429684" cy="798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IN" sz="3200" b="1" dirty="0"/>
              <a:t>Construct a binary search tree</a:t>
            </a:r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38282" y="1142985"/>
            <a:ext cx="8715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/>
            <a:r>
              <a:rPr lang="en-IN" sz="2400" b="1" dirty="0"/>
              <a:t>Keys are: </a:t>
            </a:r>
            <a:r>
              <a:rPr lang="en-US" sz="2400" b="1" dirty="0"/>
              <a:t>25, 15, 50, 10, 22, 35, 70, 4, 12, 18, 24, 31, 44, 66, 90</a:t>
            </a:r>
          </a:p>
        </p:txBody>
      </p:sp>
      <p:sp>
        <p:nvSpPr>
          <p:cNvPr id="4" name="Oval 3"/>
          <p:cNvSpPr/>
          <p:nvPr/>
        </p:nvSpPr>
        <p:spPr>
          <a:xfrm>
            <a:off x="5024430" y="1714488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25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595670" y="2500306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15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4" idx="3"/>
            <a:endCxn id="5" idx="7"/>
          </p:cNvCxnSpPr>
          <p:nvPr/>
        </p:nvCxnSpPr>
        <p:spPr>
          <a:xfrm rot="5400000">
            <a:off x="4512107" y="1956598"/>
            <a:ext cx="381704" cy="8731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524628" y="2428868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50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endCxn id="8" idx="1"/>
          </p:cNvCxnSpPr>
          <p:nvPr/>
        </p:nvCxnSpPr>
        <p:spPr>
          <a:xfrm>
            <a:off x="5667371" y="2143117"/>
            <a:ext cx="961876" cy="3799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452662" y="3345305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endCxn id="11" idx="7"/>
          </p:cNvCxnSpPr>
          <p:nvPr/>
        </p:nvCxnSpPr>
        <p:spPr>
          <a:xfrm rot="10800000" flipV="1">
            <a:off x="3123400" y="3000372"/>
            <a:ext cx="543708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67174" y="3357562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16200000" flipH="1">
            <a:off x="4190636" y="3025630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667636" y="328612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70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8" idx="5"/>
          </p:cNvCxnSpPr>
          <p:nvPr/>
        </p:nvCxnSpPr>
        <p:spPr>
          <a:xfrm rot="16200000" flipH="1">
            <a:off x="7257145" y="2854897"/>
            <a:ext cx="392354" cy="6378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809720" y="4059685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rot="5400000">
            <a:off x="2203372" y="3775728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952728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12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rot="16200000" flipH="1">
            <a:off x="3047628" y="3882886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096132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/>
          <p:cNvCxnSpPr>
            <a:stCxn id="17" idx="3"/>
          </p:cNvCxnSpPr>
          <p:nvPr/>
        </p:nvCxnSpPr>
        <p:spPr>
          <a:xfrm rot="5400000">
            <a:off x="7506375" y="3924733"/>
            <a:ext cx="355704" cy="176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738810" y="3286124"/>
            <a:ext cx="785818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35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endCxn id="28" idx="7"/>
          </p:cNvCxnSpPr>
          <p:nvPr/>
        </p:nvCxnSpPr>
        <p:spPr>
          <a:xfrm rot="5400000">
            <a:off x="6389523" y="3020398"/>
            <a:ext cx="369447" cy="3293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738546" y="4131124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18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>
            <a:stCxn id="13" idx="3"/>
          </p:cNvCxnSpPr>
          <p:nvPr/>
        </p:nvCxnSpPr>
        <p:spPr>
          <a:xfrm rot="5400000">
            <a:off x="4035503" y="3931606"/>
            <a:ext cx="322524" cy="1500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667240" y="4143379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24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rot="16200000" flipH="1">
            <a:off x="4762140" y="3882885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381620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9" name="Straight Arrow Connector 58"/>
          <p:cNvCxnSpPr>
            <a:endCxn id="58" idx="0"/>
          </p:cNvCxnSpPr>
          <p:nvPr/>
        </p:nvCxnSpPr>
        <p:spPr>
          <a:xfrm rot="5400000">
            <a:off x="5648246" y="3876756"/>
            <a:ext cx="357189" cy="1760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238876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/>
          <p:cNvCxnSpPr>
            <a:endCxn id="60" idx="0"/>
          </p:cNvCxnSpPr>
          <p:nvPr/>
        </p:nvCxnSpPr>
        <p:spPr>
          <a:xfrm rot="16200000" flipH="1">
            <a:off x="6334675" y="3881988"/>
            <a:ext cx="357189" cy="165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8239140" y="4071942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90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 rot="16200000" flipH="1">
            <a:off x="8334040" y="3811448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16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3" grpId="0" animBg="1"/>
      <p:bldP spid="17" grpId="0" animBg="1"/>
      <p:bldP spid="19" grpId="0" animBg="1"/>
      <p:bldP spid="21" grpId="0" animBg="1"/>
      <p:bldP spid="23" grpId="0" animBg="1"/>
      <p:bldP spid="28" grpId="0" animBg="1"/>
      <p:bldP spid="32" grpId="0" animBg="1"/>
      <p:bldP spid="34" grpId="0" animBg="1"/>
      <p:bldP spid="58" grpId="0" animBg="1"/>
      <p:bldP spid="60" grpId="0" animBg="1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ChangeArrowheads="1"/>
          </p:cNvSpPr>
          <p:nvPr/>
        </p:nvSpPr>
        <p:spPr bwMode="auto">
          <a:xfrm>
            <a:off x="250034" y="1246809"/>
            <a:ext cx="1137726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Step 1 - </a:t>
            </a:r>
            <a:r>
              <a:rPr lang="en-US" sz="2400" b="1" dirty="0"/>
              <a:t>Find the node to be deleted using search operation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Step 2 -</a:t>
            </a:r>
            <a:r>
              <a:rPr lang="en-US" sz="2400" b="1" dirty="0"/>
              <a:t> Delete the node using free function (If it is a leaf) and terminate the function.</a:t>
            </a:r>
          </a:p>
        </p:txBody>
      </p:sp>
      <p:sp>
        <p:nvSpPr>
          <p:cNvPr id="494595" name="Rectangle 3"/>
          <p:cNvSpPr>
            <a:spLocks noChangeArrowheads="1"/>
          </p:cNvSpPr>
          <p:nvPr/>
        </p:nvSpPr>
        <p:spPr bwMode="auto">
          <a:xfrm>
            <a:off x="1952596" y="116632"/>
            <a:ext cx="7772400" cy="765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/>
              <a:t>Deletion Operation in BST</a:t>
            </a:r>
          </a:p>
          <a:p>
            <a:pPr algn="ctr"/>
            <a:r>
              <a:rPr lang="en-US" sz="3200" b="1" dirty="0"/>
              <a:t>Case 1: Deleting a leaf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114" y="2011554"/>
            <a:ext cx="86733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Keys are:</a:t>
            </a:r>
          </a:p>
          <a:p>
            <a:pPr marL="817563" lvl="1" indent="-360363">
              <a:buFont typeface="Arial" pitchFamily="34" charset="0"/>
              <a:buChar char="•"/>
            </a:pPr>
            <a:r>
              <a:rPr lang="en-IN" sz="2400" b="1" dirty="0"/>
              <a:t>Delete : 7</a:t>
            </a:r>
          </a:p>
        </p:txBody>
      </p:sp>
      <p:sp>
        <p:nvSpPr>
          <p:cNvPr id="6" name="Oval 5"/>
          <p:cNvSpPr/>
          <p:nvPr/>
        </p:nvSpPr>
        <p:spPr>
          <a:xfrm>
            <a:off x="1915874" y="2736908"/>
            <a:ext cx="639835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130056" y="3451288"/>
            <a:ext cx="639835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3"/>
            <a:endCxn id="7" idx="7"/>
          </p:cNvCxnSpPr>
          <p:nvPr/>
        </p:nvCxnSpPr>
        <p:spPr>
          <a:xfrm flipH="1">
            <a:off x="1676189" y="3220289"/>
            <a:ext cx="333387" cy="313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01969" y="3379733"/>
            <a:ext cx="710930" cy="6371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6" idx="5"/>
            <a:endCxn id="9" idx="1"/>
          </p:cNvCxnSpPr>
          <p:nvPr/>
        </p:nvCxnSpPr>
        <p:spPr>
          <a:xfrm>
            <a:off x="2462007" y="3220289"/>
            <a:ext cx="344075" cy="2527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87114" y="4224849"/>
            <a:ext cx="639835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7" idx="3"/>
          </p:cNvCxnSpPr>
          <p:nvPr/>
        </p:nvCxnSpPr>
        <p:spPr>
          <a:xfrm flipH="1">
            <a:off x="867813" y="3934669"/>
            <a:ext cx="355945" cy="3239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30399" y="4237106"/>
            <a:ext cx="710930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677135" y="3944700"/>
            <a:ext cx="269425" cy="328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559225" y="4094113"/>
            <a:ext cx="710930" cy="6371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320418" y="3923858"/>
            <a:ext cx="340654" cy="2551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58618" y="5022924"/>
            <a:ext cx="639835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3" idx="3"/>
          </p:cNvCxnSpPr>
          <p:nvPr/>
        </p:nvCxnSpPr>
        <p:spPr>
          <a:xfrm flipH="1">
            <a:off x="1439317" y="4720487"/>
            <a:ext cx="295195" cy="3362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130465" y="5022924"/>
            <a:ext cx="710930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7</a:t>
            </a:r>
            <a:endParaRPr lang="en-US" sz="2200" b="1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177201" y="4730518"/>
            <a:ext cx="269425" cy="328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160969" y="5048371"/>
            <a:ext cx="834181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3477894" y="4680539"/>
            <a:ext cx="249757" cy="4104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630782" y="2736908"/>
            <a:ext cx="639835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5844964" y="3451288"/>
            <a:ext cx="639835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>
            <a:stCxn id="23" idx="3"/>
            <a:endCxn id="24" idx="7"/>
          </p:cNvCxnSpPr>
          <p:nvPr/>
        </p:nvCxnSpPr>
        <p:spPr>
          <a:xfrm flipH="1">
            <a:off x="6391097" y="3220289"/>
            <a:ext cx="333387" cy="3139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16877" y="3379733"/>
            <a:ext cx="710930" cy="6371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23" idx="5"/>
            <a:endCxn id="26" idx="1"/>
          </p:cNvCxnSpPr>
          <p:nvPr/>
        </p:nvCxnSpPr>
        <p:spPr>
          <a:xfrm>
            <a:off x="7176915" y="3220289"/>
            <a:ext cx="344075" cy="2527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202022" y="4224849"/>
            <a:ext cx="639835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4" idx="3"/>
          </p:cNvCxnSpPr>
          <p:nvPr/>
        </p:nvCxnSpPr>
        <p:spPr>
          <a:xfrm flipH="1">
            <a:off x="5582721" y="3934669"/>
            <a:ext cx="355945" cy="3239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345307" y="4237106"/>
            <a:ext cx="710930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392043" y="3944700"/>
            <a:ext cx="269425" cy="328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74133" y="4094113"/>
            <a:ext cx="710930" cy="6371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8035326" y="3923858"/>
            <a:ext cx="340654" cy="2551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773526" y="5022924"/>
            <a:ext cx="639835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stCxn id="30" idx="3"/>
          </p:cNvCxnSpPr>
          <p:nvPr/>
        </p:nvCxnSpPr>
        <p:spPr>
          <a:xfrm flipH="1">
            <a:off x="6093100" y="4720487"/>
            <a:ext cx="356320" cy="3362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702629" y="5022924"/>
            <a:ext cx="710930" cy="566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32" idx="3"/>
          </p:cNvCxnSpPr>
          <p:nvPr/>
        </p:nvCxnSpPr>
        <p:spPr>
          <a:xfrm flipH="1">
            <a:off x="8128489" y="4637917"/>
            <a:ext cx="249757" cy="4104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56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5" name="Rectangle 3"/>
          <p:cNvSpPr>
            <a:spLocks noChangeArrowheads="1"/>
          </p:cNvSpPr>
          <p:nvPr/>
        </p:nvSpPr>
        <p:spPr bwMode="auto">
          <a:xfrm>
            <a:off x="1952596" y="61248"/>
            <a:ext cx="7772400" cy="847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/>
              <a:t>Deletion Operation in BST</a:t>
            </a:r>
          </a:p>
          <a:p>
            <a:pPr algn="ctr"/>
            <a:r>
              <a:rPr lang="en-US" sz="3200" b="1" dirty="0"/>
              <a:t>Case 2:Deleting a node with one child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384" y="1916832"/>
            <a:ext cx="8715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Keys are:</a:t>
            </a:r>
          </a:p>
          <a:p>
            <a:pPr marL="817563" lvl="1" indent="-360363">
              <a:buFont typeface="Arial" pitchFamily="34" charset="0"/>
              <a:buChar char="•"/>
            </a:pPr>
            <a:r>
              <a:rPr lang="en-IN" sz="2400" b="1" dirty="0"/>
              <a:t>Delete : 10</a:t>
            </a:r>
          </a:p>
        </p:txBody>
      </p:sp>
      <p:sp>
        <p:nvSpPr>
          <p:cNvPr id="6" name="Oval 5"/>
          <p:cNvSpPr/>
          <p:nvPr/>
        </p:nvSpPr>
        <p:spPr>
          <a:xfrm>
            <a:off x="2412192" y="2868266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626374" y="3582646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3"/>
            <a:endCxn id="7" idx="7"/>
          </p:cNvCxnSpPr>
          <p:nvPr/>
        </p:nvCxnSpPr>
        <p:spPr>
          <a:xfrm rot="5400000">
            <a:off x="2185621" y="3345613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198010" y="3511208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10</a:t>
            </a:r>
            <a:endParaRPr lang="en-US" sz="2200" b="1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6" idx="5"/>
            <a:endCxn id="9" idx="1"/>
          </p:cNvCxnSpPr>
          <p:nvPr/>
        </p:nvCxnSpPr>
        <p:spPr>
          <a:xfrm rot="16200000" flipH="1">
            <a:off x="3007158" y="3309894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83432" y="4356207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rot="5400000">
            <a:off x="1377084" y="4072250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126440" y="4368464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16200000" flipH="1">
            <a:off x="2149902" y="4107970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055266" y="4225588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rot="16200000" flipH="1">
            <a:off x="3864414" y="4014000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554936" y="515428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rot="5400000">
            <a:off x="1948588" y="4870325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83762" y="5154282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5" idx="3"/>
          </p:cNvCxnSpPr>
          <p:nvPr/>
        </p:nvCxnSpPr>
        <p:spPr>
          <a:xfrm rot="5400000">
            <a:off x="3833928" y="4852838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27100" y="2868266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6341282" y="3582646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21" idx="3"/>
            <a:endCxn id="22" idx="7"/>
          </p:cNvCxnSpPr>
          <p:nvPr/>
        </p:nvCxnSpPr>
        <p:spPr>
          <a:xfrm rot="5400000">
            <a:off x="6900529" y="3345613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5"/>
          </p:cNvCxnSpPr>
          <p:nvPr/>
        </p:nvCxnSpPr>
        <p:spPr>
          <a:xfrm rot="16200000" flipH="1">
            <a:off x="7752555" y="3279406"/>
            <a:ext cx="369447" cy="5227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698340" y="4356207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rot="5400000">
            <a:off x="6091992" y="4072250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841348" y="4368464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rot="16200000" flipH="1">
            <a:off x="6864810" y="4107970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127232" y="3511208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6269844" y="515428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rot="5400000">
            <a:off x="6663496" y="4870325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555728" y="4439902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>
            <a:stCxn id="29" idx="3"/>
          </p:cNvCxnSpPr>
          <p:nvPr/>
        </p:nvCxnSpPr>
        <p:spPr>
          <a:xfrm rot="5400000">
            <a:off x="7905894" y="4138458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Arc 33"/>
          <p:cNvSpPr/>
          <p:nvPr/>
        </p:nvSpPr>
        <p:spPr>
          <a:xfrm>
            <a:off x="1697812" y="2939704"/>
            <a:ext cx="2714644" cy="2428892"/>
          </a:xfrm>
          <a:prstGeom prst="arc">
            <a:avLst>
              <a:gd name="adj1" fmla="val 16200000"/>
              <a:gd name="adj2" fmla="val 19904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48356" y="1234782"/>
            <a:ext cx="10699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732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a node has only one child, simply delete the node and link its parent directly to that child. This keeps the tree structure correct after deletion.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4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5" grpId="0" animBg="1"/>
      <p:bldP spid="27" grpId="0" animBg="1"/>
      <p:bldP spid="29" grpId="0" animBg="1"/>
      <p:bldP spid="30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952596" y="142852"/>
            <a:ext cx="842968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IN" sz="3600" b="1" dirty="0"/>
              <a:t>Deletion in binary search tree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79376" y="1142985"/>
            <a:ext cx="8715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Keys are:</a:t>
            </a:r>
          </a:p>
          <a:p>
            <a:pPr marL="817563" lvl="1" indent="-360363">
              <a:buFont typeface="Arial" pitchFamily="34" charset="0"/>
              <a:buChar char="•"/>
            </a:pPr>
            <a:r>
              <a:rPr lang="en-IN" sz="2400" b="1" dirty="0"/>
              <a:t>Delete : 6</a:t>
            </a:r>
          </a:p>
        </p:txBody>
      </p:sp>
      <p:sp>
        <p:nvSpPr>
          <p:cNvPr id="39" name="Oval 38"/>
          <p:cNvSpPr/>
          <p:nvPr/>
        </p:nvSpPr>
        <p:spPr>
          <a:xfrm>
            <a:off x="2051012" y="264318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1265194" y="335756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/>
          <p:cNvCxnSpPr>
            <a:stCxn id="39" idx="3"/>
            <a:endCxn id="40" idx="7"/>
          </p:cNvCxnSpPr>
          <p:nvPr/>
        </p:nvCxnSpPr>
        <p:spPr>
          <a:xfrm rot="5400000">
            <a:off x="1824441" y="3120529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9" idx="5"/>
          </p:cNvCxnSpPr>
          <p:nvPr/>
        </p:nvCxnSpPr>
        <p:spPr>
          <a:xfrm rot="16200000" flipH="1">
            <a:off x="2676467" y="3054322"/>
            <a:ext cx="369447" cy="5227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22252" y="4131123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5400000">
            <a:off x="1015904" y="3847166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765260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rot="16200000" flipH="1">
            <a:off x="1788722" y="3882886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051144" y="328612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1193756" y="4929198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rot="5400000">
            <a:off x="1587408" y="4645241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2764672" y="4242548"/>
            <a:ext cx="739459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rot="5400000">
            <a:off x="2986577" y="3936092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337292" y="264318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5551474" y="335756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/>
          <p:cNvCxnSpPr>
            <a:stCxn id="44" idx="3"/>
            <a:endCxn id="51" idx="7"/>
          </p:cNvCxnSpPr>
          <p:nvPr/>
        </p:nvCxnSpPr>
        <p:spPr>
          <a:xfrm rot="5400000">
            <a:off x="6110721" y="3120529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4" idx="5"/>
          </p:cNvCxnSpPr>
          <p:nvPr/>
        </p:nvCxnSpPr>
        <p:spPr>
          <a:xfrm rot="16200000" flipH="1">
            <a:off x="6962747" y="3054322"/>
            <a:ext cx="369447" cy="5227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908532" y="4131123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/>
          <p:cNvCxnSpPr/>
          <p:nvPr/>
        </p:nvCxnSpPr>
        <p:spPr>
          <a:xfrm rot="5400000">
            <a:off x="5302184" y="3847166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6051540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 rot="16200000" flipH="1">
            <a:off x="6075002" y="3882886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7337424" y="328612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999362" y="4242548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67" name="Straight Arrow Connector 66"/>
          <p:cNvCxnSpPr/>
          <p:nvPr/>
        </p:nvCxnSpPr>
        <p:spPr>
          <a:xfrm rot="5400000">
            <a:off x="7278088" y="3952415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1" grpId="0" animBg="1"/>
      <p:bldP spid="59" grpId="0" animBg="1"/>
      <p:bldP spid="61" grpId="0" animBg="1"/>
      <p:bldP spid="63" grpId="0" animBg="1"/>
      <p:bldP spid="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ChangeArrowheads="1"/>
          </p:cNvSpPr>
          <p:nvPr/>
        </p:nvSpPr>
        <p:spPr bwMode="auto">
          <a:xfrm>
            <a:off x="406798" y="1559946"/>
            <a:ext cx="1152128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Step 1 –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the node to delete using search.</a:t>
            </a:r>
          </a:p>
          <a:p>
            <a:pPr lvl="1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Step 2 –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the node has two children, choose a replacement node: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• the smallest node in the right subtree (successor), OR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• the largest node in the left subtree (predecessor).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Step 3 –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Locate that successor or predecessor.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Step 4 –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Delete the successor (or predecessor) from its original place.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Step 5 –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Replace the node to be deleted with this successor (or predecessor).</a:t>
            </a:r>
          </a:p>
        </p:txBody>
      </p:sp>
      <p:sp>
        <p:nvSpPr>
          <p:cNvPr id="494595" name="Rectangle 3"/>
          <p:cNvSpPr>
            <a:spLocks noChangeArrowheads="1"/>
          </p:cNvSpPr>
          <p:nvPr/>
        </p:nvSpPr>
        <p:spPr bwMode="auto">
          <a:xfrm>
            <a:off x="1952596" y="116632"/>
            <a:ext cx="8429684" cy="765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b="1" dirty="0"/>
              <a:t>Deletion Operation in BST</a:t>
            </a:r>
          </a:p>
          <a:p>
            <a:pPr algn="ctr"/>
            <a:r>
              <a:rPr lang="en-US" sz="3200" b="1" dirty="0"/>
              <a:t>Case 3:Deleting a node with two children</a:t>
            </a:r>
          </a:p>
        </p:txBody>
      </p:sp>
      <p:sp>
        <p:nvSpPr>
          <p:cNvPr id="2" name="Rectangle 1"/>
          <p:cNvSpPr/>
          <p:nvPr/>
        </p:nvSpPr>
        <p:spPr>
          <a:xfrm>
            <a:off x="1639076" y="520522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Easy memory trick:</a:t>
            </a:r>
            <a:endParaRPr lang="en-US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 smtClean="0"/>
              <a:t>Successor </a:t>
            </a:r>
            <a:r>
              <a:rPr lang="en-US" b="1" dirty="0"/>
              <a:t>= Smallest on Right</a:t>
            </a:r>
            <a:r>
              <a:rPr lang="en-US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Predecessor = Largest on Left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366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952596" y="122902"/>
            <a:ext cx="8429684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IN" sz="3200" b="1" dirty="0"/>
              <a:t>Deletion in binary search tree</a:t>
            </a:r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35360" y="1142985"/>
            <a:ext cx="8715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Keys are:</a:t>
            </a:r>
          </a:p>
          <a:p>
            <a:pPr marL="817563" lvl="1" indent="-360363">
              <a:buFont typeface="Arial" pitchFamily="34" charset="0"/>
              <a:buChar char="•"/>
            </a:pPr>
            <a:r>
              <a:rPr lang="en-IN" sz="2400" b="1" dirty="0"/>
              <a:t>Delete : 3</a:t>
            </a:r>
          </a:p>
          <a:p>
            <a:pPr marL="817563" lvl="1" indent="-360363"/>
            <a:r>
              <a:rPr lang="en-IN" sz="2400" b="1" dirty="0"/>
              <a:t>As node 3 is having two children, replace it with successor 4.  </a:t>
            </a:r>
          </a:p>
        </p:txBody>
      </p:sp>
      <p:sp>
        <p:nvSpPr>
          <p:cNvPr id="28" name="Oval 27"/>
          <p:cNvSpPr/>
          <p:nvPr/>
        </p:nvSpPr>
        <p:spPr>
          <a:xfrm>
            <a:off x="2622328" y="264318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836510" y="335756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3</a:t>
            </a:r>
            <a:endParaRPr lang="en-US" sz="2200" b="1" dirty="0">
              <a:solidFill>
                <a:srgbClr val="FF0000"/>
              </a:solidFill>
            </a:endParaRPr>
          </a:p>
        </p:txBody>
      </p:sp>
      <p:cxnSp>
        <p:nvCxnSpPr>
          <p:cNvPr id="30" name="Straight Arrow Connector 29"/>
          <p:cNvCxnSpPr>
            <a:stCxn id="28" idx="3"/>
            <a:endCxn id="29" idx="7"/>
          </p:cNvCxnSpPr>
          <p:nvPr/>
        </p:nvCxnSpPr>
        <p:spPr>
          <a:xfrm rot="5400000">
            <a:off x="2395757" y="3120529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408146" y="328612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28" idx="5"/>
            <a:endCxn id="31" idx="1"/>
          </p:cNvCxnSpPr>
          <p:nvPr/>
        </p:nvCxnSpPr>
        <p:spPr>
          <a:xfrm rot="16200000" flipH="1">
            <a:off x="3217294" y="3084810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193568" y="4131123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rot="5400000">
            <a:off x="1587220" y="3847166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336576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rot="16200000" flipH="1">
            <a:off x="2360038" y="3882886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265402" y="400050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rot="16200000" flipH="1">
            <a:off x="4074550" y="3788916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765072" y="4929198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rot="5400000">
            <a:off x="2158724" y="4645241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2836642" y="4929198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7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 rot="16200000" flipH="1">
            <a:off x="2860104" y="4668704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3693898" y="4929198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>
            <a:stCxn id="37" idx="3"/>
          </p:cNvCxnSpPr>
          <p:nvPr/>
        </p:nvCxnSpPr>
        <p:spPr>
          <a:xfrm rot="5400000">
            <a:off x="4044064" y="4627754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7122922" y="264318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8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6337104" y="335756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1" name="Straight Arrow Connector 70"/>
          <p:cNvCxnSpPr>
            <a:stCxn id="69" idx="3"/>
            <a:endCxn id="70" idx="7"/>
          </p:cNvCxnSpPr>
          <p:nvPr/>
        </p:nvCxnSpPr>
        <p:spPr>
          <a:xfrm rot="5400000">
            <a:off x="6896351" y="3120529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7908740" y="328612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3" name="Straight Arrow Connector 72"/>
          <p:cNvCxnSpPr>
            <a:stCxn id="69" idx="5"/>
            <a:endCxn id="72" idx="1"/>
          </p:cNvCxnSpPr>
          <p:nvPr/>
        </p:nvCxnSpPr>
        <p:spPr>
          <a:xfrm rot="16200000" flipH="1">
            <a:off x="7717888" y="3084810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694162" y="4131123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/>
          <p:cNvCxnSpPr/>
          <p:nvPr/>
        </p:nvCxnSpPr>
        <p:spPr>
          <a:xfrm rot="5400000">
            <a:off x="6087814" y="3847166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837170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7" name="Straight Arrow Connector 76"/>
          <p:cNvCxnSpPr/>
          <p:nvPr/>
        </p:nvCxnSpPr>
        <p:spPr>
          <a:xfrm rot="16200000" flipH="1">
            <a:off x="6860632" y="3882886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8765996" y="400050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/>
          <p:cNvCxnSpPr/>
          <p:nvPr/>
        </p:nvCxnSpPr>
        <p:spPr>
          <a:xfrm rot="16200000" flipH="1">
            <a:off x="8575144" y="3788916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337236" y="4929198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7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83" name="Straight Arrow Connector 82"/>
          <p:cNvCxnSpPr/>
          <p:nvPr/>
        </p:nvCxnSpPr>
        <p:spPr>
          <a:xfrm rot="16200000" flipH="1">
            <a:off x="7360698" y="4668704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8194492" y="4929198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85" name="Straight Arrow Connector 84"/>
          <p:cNvCxnSpPr>
            <a:stCxn id="78" idx="3"/>
          </p:cNvCxnSpPr>
          <p:nvPr/>
        </p:nvCxnSpPr>
        <p:spPr>
          <a:xfrm rot="5400000">
            <a:off x="8544658" y="4627754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>
            <a:off x="264874" y="2786058"/>
            <a:ext cx="3643338" cy="285752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0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2" grpId="0" animBg="1"/>
      <p:bldP spid="74" grpId="0" animBg="1"/>
      <p:bldP spid="76" grpId="0" animBg="1"/>
      <p:bldP spid="78" grpId="0" animBg="1"/>
      <p:bldP spid="82" grpId="0" animBg="1"/>
      <p:bldP spid="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952596" y="116632"/>
            <a:ext cx="8429684" cy="798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IN" sz="3200" b="1" dirty="0"/>
              <a:t>Deletion in binary search tree</a:t>
            </a:r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35360" y="1142985"/>
            <a:ext cx="10332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Keys are:</a:t>
            </a:r>
          </a:p>
          <a:p>
            <a:pPr marL="817563" lvl="1" indent="-360363">
              <a:buFont typeface="Arial" pitchFamily="34" charset="0"/>
              <a:buChar char="•"/>
            </a:pPr>
            <a:r>
              <a:rPr lang="en-IN" sz="2400" b="1" dirty="0"/>
              <a:t>Delete : 8</a:t>
            </a:r>
          </a:p>
          <a:p>
            <a:pPr marL="817563" lvl="1" indent="-360363">
              <a:buFont typeface="Arial" pitchFamily="34" charset="0"/>
              <a:buChar char="•"/>
            </a:pPr>
            <a:r>
              <a:rPr lang="en-IN" sz="2400" b="1" dirty="0"/>
              <a:t>As node 8 is having two children, replace it with predecessor 7.   </a:t>
            </a:r>
          </a:p>
        </p:txBody>
      </p:sp>
      <p:sp>
        <p:nvSpPr>
          <p:cNvPr id="69" name="Oval 68"/>
          <p:cNvSpPr/>
          <p:nvPr/>
        </p:nvSpPr>
        <p:spPr>
          <a:xfrm>
            <a:off x="2484200" y="264318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rgbClr val="FF0000"/>
                </a:solidFill>
              </a:rPr>
              <a:t>8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1698382" y="335756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1" name="Straight Arrow Connector 70"/>
          <p:cNvCxnSpPr>
            <a:stCxn id="69" idx="3"/>
            <a:endCxn id="70" idx="7"/>
          </p:cNvCxnSpPr>
          <p:nvPr/>
        </p:nvCxnSpPr>
        <p:spPr>
          <a:xfrm rot="5400000">
            <a:off x="2257629" y="3120529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3270018" y="328612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3" name="Straight Arrow Connector 72"/>
          <p:cNvCxnSpPr>
            <a:stCxn id="69" idx="5"/>
            <a:endCxn id="72" idx="1"/>
          </p:cNvCxnSpPr>
          <p:nvPr/>
        </p:nvCxnSpPr>
        <p:spPr>
          <a:xfrm rot="16200000" flipH="1">
            <a:off x="3079166" y="3084810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55440" y="4131123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/>
          <p:cNvCxnSpPr/>
          <p:nvPr/>
        </p:nvCxnSpPr>
        <p:spPr>
          <a:xfrm rot="5400000">
            <a:off x="1449092" y="3847166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2198448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7" name="Straight Arrow Connector 76"/>
          <p:cNvCxnSpPr/>
          <p:nvPr/>
        </p:nvCxnSpPr>
        <p:spPr>
          <a:xfrm rot="16200000" flipH="1">
            <a:off x="2221910" y="3882886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4127274" y="400050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/>
          <p:cNvCxnSpPr/>
          <p:nvPr/>
        </p:nvCxnSpPr>
        <p:spPr>
          <a:xfrm rot="16200000" flipH="1">
            <a:off x="3936422" y="3788916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2698514" y="4929198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7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83" name="Straight Arrow Connector 82"/>
          <p:cNvCxnSpPr/>
          <p:nvPr/>
        </p:nvCxnSpPr>
        <p:spPr>
          <a:xfrm rot="16200000" flipH="1">
            <a:off x="2721976" y="4668704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555770" y="4929198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85" name="Straight Arrow Connector 84"/>
          <p:cNvCxnSpPr>
            <a:stCxn id="78" idx="3"/>
          </p:cNvCxnSpPr>
          <p:nvPr/>
        </p:nvCxnSpPr>
        <p:spPr>
          <a:xfrm rot="5400000">
            <a:off x="3905936" y="4627754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699042" y="264318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7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5913224" y="3357562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/>
          <p:cNvCxnSpPr>
            <a:stCxn id="39" idx="3"/>
            <a:endCxn id="40" idx="7"/>
          </p:cNvCxnSpPr>
          <p:nvPr/>
        </p:nvCxnSpPr>
        <p:spPr>
          <a:xfrm rot="5400000">
            <a:off x="6472471" y="3120529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484860" y="328612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10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39" idx="5"/>
            <a:endCxn id="44" idx="1"/>
          </p:cNvCxnSpPr>
          <p:nvPr/>
        </p:nvCxnSpPr>
        <p:spPr>
          <a:xfrm rot="16200000" flipH="1">
            <a:off x="7294008" y="3084810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270282" y="4131123"/>
            <a:ext cx="642942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5400000">
            <a:off x="5663934" y="3847166"/>
            <a:ext cx="310266" cy="331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413290" y="4143380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6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rot="16200000" flipH="1">
            <a:off x="6436752" y="3882886"/>
            <a:ext cx="320728" cy="2702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342116" y="4000504"/>
            <a:ext cx="714380" cy="6429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14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rot="16200000" flipH="1">
            <a:off x="8151264" y="3788916"/>
            <a:ext cx="249290" cy="3416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770612" y="4929198"/>
            <a:ext cx="714380" cy="5715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</a:rPr>
              <a:t>13</a:t>
            </a:r>
            <a:endParaRPr lang="en-US" sz="22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>
            <a:stCxn id="50" idx="3"/>
          </p:cNvCxnSpPr>
          <p:nvPr/>
        </p:nvCxnSpPr>
        <p:spPr>
          <a:xfrm rot="5400000">
            <a:off x="8120778" y="4627754"/>
            <a:ext cx="404423" cy="24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107DA72-7F1A-9AFA-4A76-10A6FF76AD02}"/>
              </a:ext>
            </a:extLst>
          </p:cNvPr>
          <p:cNvSpPr txBox="1"/>
          <p:nvPr/>
        </p:nvSpPr>
        <p:spPr>
          <a:xfrm>
            <a:off x="3973232" y="1070781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9, 2, 10, 2, 1</a:t>
            </a:r>
            <a:r>
              <a:rPr lang="en-IN"/>
              <a:t>, 13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68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4" grpId="0" animBg="1"/>
      <p:bldP spid="46" grpId="0" animBg="1"/>
      <p:bldP spid="48" grpId="0" animBg="1"/>
      <p:bldP spid="50" grpId="0" animBg="1"/>
      <p:bldP spid="5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352</Words>
  <Application>Microsoft Office PowerPoint</Application>
  <PresentationFormat>Widescreen</PresentationFormat>
  <Paragraphs>141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laxmana kumar</dc:creator>
  <cp:lastModifiedBy>User</cp:lastModifiedBy>
  <cp:revision>1</cp:revision>
  <dcterms:created xsi:type="dcterms:W3CDTF">2026-04-15T07:24:44Z</dcterms:created>
  <dcterms:modified xsi:type="dcterms:W3CDTF">2026-04-15T07:37:38Z</dcterms:modified>
</cp:coreProperties>
</file>